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ADA4"/>
                </a:solidFill>
                <a:latin typeface="Aptos"/>
              </a:defRPr>
            </a:pPr>
            <a:r>
              <a:t>APPLIED MACHINE LEARNING  /  TERM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686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F8FA"/>
                </a:solidFill>
                <a:latin typeface="Aptos Display"/>
              </a:defRPr>
            </a:pPr>
            <a:r>
              <a:t>Character-Level CNN and</a:t>
            </a:r>
            <a:br/>
            <a:r>
              <a:t>Transformer Models for</a:t>
            </a:r>
            <a:br/>
            <a:r>
              <a:t>Phishing URL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03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B9F2E2"/>
                </a:solidFill>
                <a:latin typeface="Aptos"/>
              </a:defRPr>
            </a:pPr>
            <a:r>
              <a:t>A URL-only adaptation of PhishTransformer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1417320"/>
            <a:ext cx="2468880" cy="214884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42248" y="15819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FINAL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2248" y="1984248"/>
            <a:ext cx="2066544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Hybrid model</a:t>
            </a:r>
            <a:br/>
            <a:r>
              <a:t>99.25% accuracy</a:t>
            </a:r>
            <a:br/>
            <a:r>
              <a:t>99.24% F1-score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80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C7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01 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Why detect phishing from the URL?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URLs are available before page content is loaded.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Blacklists miss newly created or rapidly changing campaigns.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Attackers manipulate tokens, paths, subdomains, digits, and separators.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Character-level learning avoids a manually designed lexical feature vector.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26280"/>
            <a:ext cx="3657600" cy="11430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4690872"/>
            <a:ext cx="32552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5093208"/>
            <a:ext cx="3255264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Does combining local character patterns with long-range context improve phishing URL classification?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02  BASE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What is adapted from PhishTransformer?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37560" cy="20574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3911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BASE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441448"/>
            <a:ext cx="293522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Asiri et al.</a:t>
            </a:r>
            <a:br/>
            <a:r>
              <a:t>CNN + Transformer</a:t>
            </a:r>
            <a:br/>
            <a:r>
              <a:t>URLs collected from webpage content, hyperlinks, and iframes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74519"/>
            <a:ext cx="3337560" cy="20574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03911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41448"/>
            <a:ext cx="293522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Character-level URL strings</a:t>
            </a:r>
            <a:br/>
            <a:r>
              <a:t>CNN-only baseline</a:t>
            </a:r>
            <a:br/>
            <a:r>
              <a:t>Transformer-only baseline</a:t>
            </a:r>
            <a:br/>
            <a:r>
              <a:t>Hybrid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337560" cy="20574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B9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03911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2E2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441448"/>
            <a:ext cx="2935224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Same local-plus-global motivation.</a:t>
            </a:r>
            <a:br/>
            <a:r>
              <a:t>Different data collection, sources, split, and protocol.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6A648"/>
                </a:solidFill>
                <a:latin typeface="Aptos Display"/>
              </a:defRPr>
            </a:pPr>
            <a:r>
              <a:t>The project is an adaptation, not an exact reproduction.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03 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Raw URL sources used in the final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2743200" cy="59436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Source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874519"/>
            <a:ext cx="2926080" cy="59436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874519"/>
            <a:ext cx="1828800" cy="59436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Raw records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874519"/>
            <a:ext cx="1920240" cy="59436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After cleaning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468879"/>
            <a:ext cx="2743200" cy="59436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verified_online.csv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468879"/>
            <a:ext cx="2926080" cy="59436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PhishTank / phishing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468879"/>
            <a:ext cx="1828800" cy="59436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69,715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2468879"/>
            <a:ext cx="1920240" cy="59436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68,471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063239"/>
            <a:ext cx="2743200" cy="59436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54679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top-1m.csv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39"/>
            <a:ext cx="2926080" cy="59436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315467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Tranco / legitimate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63239"/>
            <a:ext cx="1828800" cy="59436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15467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1,000,000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3063239"/>
            <a:ext cx="1920240" cy="59436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15467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999,996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977639"/>
            <a:ext cx="5074920" cy="132588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26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142231"/>
            <a:ext cx="46725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6C5F"/>
                </a:solidFill>
                <a:latin typeface="Aptos"/>
              </a:defRPr>
            </a:pPr>
            <a:r>
              <a:t>REMOVED 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544568"/>
            <a:ext cx="4672583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The feature-engineered All.csv was removed. It has no raw URL column and is not compatible with this character-level model.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977639"/>
            <a:ext cx="4480560" cy="132588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142231"/>
            <a:ext cx="4078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BALANCED SAMPLE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4544568"/>
            <a:ext cx="4078224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1,000 URLs per class</a:t>
            </a:r>
            <a:br/>
            <a:r>
              <a:t>2,000 total</a:t>
            </a:r>
            <a:br/>
            <a:r>
              <a:t>Seed 42</a:t>
            </a:r>
            <a:br/>
            <a:r>
              <a:t>80/20 stratified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04 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From URL string to model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331720" cy="16002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01  Normalize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19293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lowercase</a:t>
            </a:r>
            <a:br/>
            <a:r>
              <a:t>remove whitespace</a:t>
            </a:r>
            <a:br/>
            <a:r>
              <a:t>strip scheme and www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6A6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48840"/>
            <a:ext cx="2331720" cy="16002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313432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02  Encode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715768"/>
            <a:ext cx="19293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character IDs</a:t>
            </a:r>
            <a:br/>
            <a:r>
              <a:t>&lt;PAD&gt;=0</a:t>
            </a:r>
            <a:br/>
            <a:r>
              <a:t>&lt;UNK&gt;=1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6A6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2331720" cy="16002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313432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03  Fix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715768"/>
            <a:ext cx="19293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truncate or pad</a:t>
            </a:r>
            <a:br/>
            <a:r>
              <a:t>256 characters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7" y="2651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6A64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2148840"/>
            <a:ext cx="2331720" cy="16002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313432"/>
            <a:ext cx="1929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04 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715768"/>
            <a:ext cx="192938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stratified</a:t>
            </a:r>
            <a:br/>
            <a:r>
              <a:t>train /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9F2E2"/>
                </a:solidFill>
                <a:latin typeface="Aptos Display"/>
              </a:defRPr>
            </a:pPr>
            <a:r>
              <a:t>Input tensor: X ∈ Z^(2000 × 256)   |   vocabulary: 59 symbols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05 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Three models, one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18288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CNN-ONLY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07238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Embedding → Conv1D k=3 → Conv1D k=5 → global max pool →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18288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TRANSFORMER-ONLY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95728"/>
            <a:ext cx="307238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Embedding → 2 Transformer blocks → global average pool → classifier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474720" cy="182880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B9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2E2"/>
                </a:solidFill>
                <a:latin typeface="Aptos"/>
              </a:defRPr>
            </a:pPr>
            <a:r>
              <a:t>HYBRID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95728"/>
            <a:ext cx="3072384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Embedding → Conv1D k=3 → 2 Transformer blocks → global average pool →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F8FA"/>
                </a:solidFill>
                <a:latin typeface="Aptos Display"/>
              </a:defRPr>
            </a:pPr>
            <a:r>
              <a:t>Shared classifier: Dense(128, ReLU) → Dropout(0.2) → sigmoid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06 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783080"/>
            <a:ext cx="2377440" cy="521207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726"/>
                </a:solidFill>
                <a:latin typeface="Aptos"/>
              </a:defRPr>
            </a:pPr>
            <a:r>
              <a:t>Setting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83080"/>
            <a:ext cx="1828800" cy="521207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74519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726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1783080"/>
            <a:ext cx="2377440" cy="521207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874519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726"/>
                </a:solidFill>
                <a:latin typeface="Aptos"/>
              </a:defRPr>
            </a:pPr>
            <a:r>
              <a:t>Setting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783080"/>
            <a:ext cx="1828800" cy="521207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874519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726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304288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395728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Optimizer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304288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395728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Adam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2304288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395728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Learning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304288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395728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0.0001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2825496"/>
            <a:ext cx="237744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916936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825496"/>
            <a:ext cx="182880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916936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Binary cross-entropy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825496"/>
            <a:ext cx="237744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2916936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Epochs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2825496"/>
            <a:ext cx="182880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916936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3346704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438144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Batch size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346704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438144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57800" y="3346704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0" y="3438144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Early stopping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3346704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0" y="3438144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Patience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3867911"/>
            <a:ext cx="237744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3959351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Embedding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3867911"/>
            <a:ext cx="182880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3959351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57800" y="3867911"/>
            <a:ext cx="237744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959351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Attention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35240" y="3867911"/>
            <a:ext cx="1828800" cy="521207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3959351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4 heads / 2 blocks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" y="4389120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480559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A"/>
                </a:solidFill>
                <a:latin typeface="Aptos"/>
              </a:defRPr>
            </a:pPr>
            <a:r>
              <a:t>Dense / dropout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4389120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4480559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128 / 0.2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57800" y="4389120"/>
            <a:ext cx="237744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4480559"/>
            <a:ext cx="2286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Random seed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35240" y="4389120"/>
            <a:ext cx="1828800" cy="521207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4480559"/>
            <a:ext cx="1737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8FA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6A648"/>
                </a:solidFill>
                <a:latin typeface="Aptos"/>
              </a:defRPr>
            </a:pPr>
            <a:r>
              <a:t>The short budget is a CPU constraint; the Transformer-only model is under-trained.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07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Test-set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74320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828800"/>
            <a:ext cx="150876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828800"/>
            <a:ext cx="150876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92024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150876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828800"/>
            <a:ext cx="150876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92024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1828800"/>
            <a:ext cx="1508760" cy="640080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92024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A1726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68880"/>
            <a:ext cx="274320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603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CNN-only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468880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56032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468880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56032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100.00%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468880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56032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98.50%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468880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56032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99.24%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2468880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256032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99.56%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08960"/>
            <a:ext cx="274320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2004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Transformer-only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108960"/>
            <a:ext cx="150876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20040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91.75%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108960"/>
            <a:ext cx="150876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320040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97.18%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108960"/>
            <a:ext cx="150876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20040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86.00%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3108960"/>
            <a:ext cx="150876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320040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91.25%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3108960"/>
            <a:ext cx="1508760" cy="640080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3200400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97.66%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3749039"/>
            <a:ext cx="274320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384047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F8FA"/>
                </a:solidFill>
                <a:latin typeface="Aptos"/>
              </a:defRPr>
            </a:pPr>
            <a:r>
              <a:t>Hybrid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3749039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3840479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3749039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80" y="3840479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100.00%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749039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840479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98.50%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79" y="3749039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840479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99.24%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3749039"/>
            <a:ext cx="1508760" cy="640080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760" y="3840479"/>
            <a:ext cx="14173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A"/>
                </a:solidFill>
                <a:latin typeface="Aptos"/>
              </a:defRPr>
            </a:pPr>
            <a:r>
              <a:t>99.57%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20440" y="4572000"/>
            <a:ext cx="5120640" cy="96012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B9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21608" y="4736592"/>
            <a:ext cx="4718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2E2"/>
                </a:solidFill>
                <a:latin typeface="Aptos"/>
              </a:defRPr>
            </a:pPr>
            <a:r>
              <a:t>SELECTED FOR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21608" y="5138928"/>
            <a:ext cx="471830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Hybrid CNN + Transformer</a:t>
            </a:r>
            <a:br/>
            <a:r>
              <a:t>Tie-break preference for the proposed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08 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Base paper versus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2148840" cy="566928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726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737360"/>
            <a:ext cx="4389120" cy="566928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82880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726"/>
                </a:solidFill>
                <a:latin typeface="Aptos"/>
              </a:defRPr>
            </a:pPr>
            <a:r>
              <a:t>Base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737360"/>
            <a:ext cx="4389120" cy="566928"/>
          </a:xfrm>
          <a:prstGeom prst="rect">
            <a:avLst/>
          </a:prstGeom>
          <a:solidFill>
            <a:srgbClr val="12ADA4"/>
          </a:solidFill>
          <a:ln>
            <a:solidFill>
              <a:srgbClr val="0A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82880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1726"/>
                </a:solidFill>
                <a:latin typeface="Aptos"/>
              </a:defRPr>
            </a:pPr>
            <a:r>
              <a:t>This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04288"/>
            <a:ext cx="214884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304288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3957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URLs from webpages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304288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239572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URL strings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71215"/>
            <a:ext cx="214884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6265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Phishing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871215"/>
            <a:ext cx="438912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96265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PhishArmy + PhishTank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2871215"/>
            <a:ext cx="438912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96265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PhishTank verified feed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438144"/>
            <a:ext cx="214884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2958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Legitimate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438144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529584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Alexa-based benign URLs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438144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3529584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Tranco top-million domains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005072"/>
            <a:ext cx="214884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1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Reported F1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005072"/>
            <a:ext cx="438912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096511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≈99%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4005072"/>
            <a:ext cx="4389120" cy="566928"/>
          </a:xfrm>
          <a:prstGeom prst="rect">
            <a:avLst/>
          </a:prstGeom>
          <a:solidFill>
            <a:srgbClr val="0A1726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4096511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99.24%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572000"/>
            <a:ext cx="214884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8FA"/>
                </a:solidFill>
                <a:latin typeface="Aptos"/>
              </a:defRPr>
            </a:pPr>
            <a:r>
              <a:t>Reported 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572000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66344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5-fold avg. 98.9%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572000"/>
            <a:ext cx="4389120" cy="566928"/>
          </a:xfrm>
          <a:prstGeom prst="rect">
            <a:avLst/>
          </a:prstGeom>
          <a:solidFill>
            <a:srgbClr val="142A3D"/>
          </a:solidFill>
          <a:ln>
            <a:solidFill>
              <a:srgbClr val="2D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78040" y="466344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A"/>
                </a:solidFill>
                <a:latin typeface="Aptos"/>
              </a:defRPr>
            </a:pPr>
            <a:r>
              <a:t>99.25% test accuracy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25780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6A648"/>
                </a:solidFill>
                <a:latin typeface="Aptos"/>
              </a:defRPr>
            </a:pPr>
            <a:r>
              <a:t>Numerical similarity does not mean direct comparability: protocols and distributions differ.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09 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What the score does not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Tranco examples are mostly bare domains; phishing examples frequently include paths.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A random URL split can place related domains or campaigns across train and test.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The sample is 2,000 URLs from a much larger pool and uses one random seed.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The application analyzes URL text only; it does not inspect HTML, DNS, certificates, or redirects.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754880"/>
            <a:ext cx="8138160" cy="82296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26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4919472"/>
            <a:ext cx="7735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6C5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5321808"/>
            <a:ext cx="7735824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99.25% is a controlled test-set result, not a production safety guarantee.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10  HCI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From model output to human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141732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12A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7627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ADA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20665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One URL</a:t>
            </a:r>
            <a:br/>
            <a:r>
              <a:t>No browsing or fetching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468880" cy="141732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217627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578608"/>
            <a:ext cx="20665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Normalize</a:t>
            </a:r>
            <a:br/>
            <a:r>
              <a:t>Encode</a:t>
            </a:r>
            <a:br/>
            <a:r>
              <a:t>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2468880" cy="141732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B9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17627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F2E2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578608"/>
            <a:ext cx="206654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Label</a:t>
            </a:r>
            <a:br/>
            <a:r>
              <a:t>Probability</a:t>
            </a:r>
            <a:br/>
            <a:r>
              <a:t>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2194560" cy="141732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26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176272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26C5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2578608"/>
            <a:ext cx="17922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Statistical signal</a:t>
            </a:r>
            <a:br/>
            <a:r>
              <a:t>Not proof of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5F8FA"/>
                </a:solidFill>
                <a:latin typeface="Aptos Display"/>
              </a:defRPr>
            </a:pPr>
            <a:r>
              <a:t>The Flask application reuses the training vocabulary and preprocessing.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ADA4"/>
                </a:solidFill>
                <a:latin typeface="Aptos"/>
              </a:defRPr>
            </a:pPr>
            <a:r>
              <a:t>11 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A"/>
                </a:solidFill>
                <a:latin typeface="Aptos Display"/>
              </a:defRPr>
            </a:pPr>
            <a:r>
              <a:t>How to make the evaluation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6A64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881360" cy="22860"/>
          </a:xfrm>
          <a:prstGeom prst="rect">
            <a:avLst/>
          </a:prstGeom>
          <a:solidFill>
            <a:srgbClr val="12A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Add legitimate URLs with paths and query strings.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Use domain-grouped and chronological splits.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Train on the full phishing feed with more epochs and a validation-only model-selection set.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Add positional embeddings to the Transformer.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Compare against a numeric-feature model using the separate ISCX-URL2016 feature table.</a:t>
            </a:r>
          </a:p>
          <a:p>
            <a:pPr>
              <a:spcAft>
                <a:spcPts val="1400"/>
              </a:spcAft>
              <a:defRPr sz="2000">
                <a:solidFill>
                  <a:srgbClr val="F5F8FA"/>
                </a:solidFill>
                <a:latin typeface="Aptos"/>
              </a:defRPr>
            </a:pPr>
            <a:r>
              <a:t>Evaluate calibration, homoglyph attacks, and false-negative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7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2ADA4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961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F8FA"/>
                </a:solidFill>
                <a:latin typeface="Aptos Display"/>
              </a:defRPr>
            </a:pPr>
            <a:r>
              <a:t>The hybrid model works as a</a:t>
            </a:r>
            <a:br/>
            <a:r>
              <a:t>URL-only research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B9F2E2"/>
                </a:solidFill>
                <a:latin typeface="Aptos"/>
              </a:defRPr>
            </a:pPr>
            <a:r>
              <a:t>It matches the CNN baseline on this controlled split, reflects the base paper’s local-plus-global idea, and needs broader evaluation before security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1417320"/>
            <a:ext cx="2468880" cy="2606040"/>
          </a:xfrm>
          <a:prstGeom prst="roundRect">
            <a:avLst/>
          </a:prstGeom>
          <a:solidFill>
            <a:srgbClr val="142A3D"/>
          </a:solidFill>
          <a:ln w="16510">
            <a:solidFill>
              <a:srgbClr val="F6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25128" y="158191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6A648"/>
                </a:solidFill>
                <a:latin typeface="Aptos"/>
              </a:defRPr>
            </a:pPr>
            <a:r>
              <a:t>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25128" y="1984248"/>
            <a:ext cx="206654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5F8FA"/>
                </a:solidFill>
                <a:latin typeface="Aptos"/>
              </a:defRPr>
            </a:pPr>
            <a:r>
              <a:t>Notebook</a:t>
            </a:r>
            <a:br/>
            <a:r>
              <a:t>Saved model</a:t>
            </a:r>
            <a:br/>
            <a:r>
              <a:t>Metrics + plots</a:t>
            </a:r>
            <a:br/>
            <a:r>
              <a:t>Flask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ABEC7"/>
                </a:solidFill>
                <a:latin typeface="Aptos"/>
              </a:defRPr>
            </a:pPr>
            <a:r>
              <a:t>Phishing URL Detection  / 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